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62" r:id="rId6"/>
    <p:sldId id="263" r:id="rId7"/>
    <p:sldId id="259" r:id="rId8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10"/>
      <p:bold r:id="rId11"/>
      <p:italic r:id="rId12"/>
      <p:boldItalic r:id="rId13"/>
    </p:embeddedFont>
    <p:embeddedFont>
      <p:font typeface="Tahoma" panose="020B0604030504040204" pitchFamily="3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hUVbVWOcbVhUDLBGvwDpqCPkkE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5E9B8A-10A5-4EE1-9A5F-B91C942B50B1}" v="660" dt="2025-12-09T00:55:02.857"/>
    <p1510:client id="{4726C5B4-2189-421D-A5D4-79FE4E080858}" v="33" dt="2025-12-09T02:16:33.7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20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0EC7B35C-1A01-2EF1-CD8F-7DFCE4E77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>
            <a:extLst>
              <a:ext uri="{FF2B5EF4-FFF2-40B4-BE49-F238E27FC236}">
                <a16:creationId xmlns:a16="http://schemas.microsoft.com/office/drawing/2014/main" id="{36226CB5-C340-BD6D-6AF2-9F9BE869C0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22BDD817-91A8-B508-BA0E-2EE636237B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0020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0E524501-C175-FDA2-972B-8CFA88D62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>
            <a:extLst>
              <a:ext uri="{FF2B5EF4-FFF2-40B4-BE49-F238E27FC236}">
                <a16:creationId xmlns:a16="http://schemas.microsoft.com/office/drawing/2014/main" id="{8F3FF262-5C2E-0996-D1BE-B69B8F39C2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7D0A62F9-96B6-BB70-7E73-5AEC98E275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5993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01536E01-397A-C75D-4607-387DAC621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>
            <a:extLst>
              <a:ext uri="{FF2B5EF4-FFF2-40B4-BE49-F238E27FC236}">
                <a16:creationId xmlns:a16="http://schemas.microsoft.com/office/drawing/2014/main" id="{69C3E17E-DAD7-77D1-4BBF-DDBA54443E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35916B3B-0A11-EB75-FC40-F6563D7E92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69049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"/>
          <p:cNvSpPr txBox="1">
            <a:spLocks noGrp="1"/>
          </p:cNvSpPr>
          <p:nvPr>
            <p:ph type="ctrTitle"/>
          </p:nvPr>
        </p:nvSpPr>
        <p:spPr>
          <a:xfrm>
            <a:off x="311700" y="322375"/>
            <a:ext cx="2245800" cy="42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b="1">
              <a:solidFill>
                <a:srgbClr val="B7B7B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b="1">
              <a:solidFill>
                <a:srgbClr val="99999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 b="1">
                <a:solidFill>
                  <a:srgbClr val="999999"/>
                </a:solidFill>
                <a:latin typeface="Tahoma"/>
                <a:ea typeface="Tahoma"/>
                <a:cs typeface="Tahoma"/>
                <a:sym typeface="Tahoma"/>
              </a:rPr>
              <a:t>FMP</a:t>
            </a:r>
            <a:endParaRPr b="1">
              <a:solidFill>
                <a:srgbClr val="999999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 b="1">
                <a:solidFill>
                  <a:srgbClr val="999999"/>
                </a:solidFill>
                <a:latin typeface="Tahoma"/>
                <a:ea typeface="Tahoma"/>
                <a:cs typeface="Tahoma"/>
                <a:sym typeface="Tahoma"/>
              </a:rPr>
              <a:t>PI III</a:t>
            </a:r>
            <a:endParaRPr b="1">
              <a:solidFill>
                <a:srgbClr val="999999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603"/>
              <a:buNone/>
            </a:pPr>
            <a:r>
              <a:rPr lang="pt-BR" b="1">
                <a:solidFill>
                  <a:srgbClr val="B7B7B7"/>
                </a:solidFill>
                <a:latin typeface="Georgia"/>
                <a:ea typeface="Georgia"/>
                <a:cs typeface="Georgia"/>
                <a:sym typeface="Georgia"/>
              </a:rPr>
              <a:t>				</a:t>
            </a:r>
            <a:r>
              <a:rPr lang="pt-BR" sz="4533" b="1">
                <a:solidFill>
                  <a:srgbClr val="B7B7B7"/>
                </a:solidFill>
                <a:latin typeface="Georgia"/>
                <a:ea typeface="Georgia"/>
                <a:cs typeface="Georgia"/>
                <a:sym typeface="Georgia"/>
              </a:rPr>
              <a:t>	</a:t>
            </a:r>
            <a:endParaRPr sz="1733" b="1">
              <a:solidFill>
                <a:srgbClr val="B7B7B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51" name="Google Shape;5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1023375"/>
            <a:ext cx="1764750" cy="93232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"/>
          <p:cNvSpPr txBox="1"/>
          <p:nvPr/>
        </p:nvSpPr>
        <p:spPr>
          <a:xfrm>
            <a:off x="2937100" y="1289626"/>
            <a:ext cx="5824200" cy="30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pt-BR" sz="3100" dirty="0" err="1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GetLab</a:t>
            </a:r>
            <a:endParaRPr sz="3100" b="0" i="0" u="none" strike="noStrike" cap="none" dirty="0" err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3100" b="0" i="0" u="none" strike="noStrike" cap="none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3100" b="0" i="0" u="none" strike="noStrike" cap="none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>
              <a:buSzPts val="2000"/>
            </a:pPr>
            <a:r>
              <a:rPr lang="pt-BR" sz="2000" b="0" i="0" u="none" strike="noStrike" cap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ALUNOS:</a:t>
            </a:r>
            <a:r>
              <a:rPr lang="pt-BR" sz="2000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Vitor Machado Silva, Diogo Vieira, Leonardo de Campos e Eriksson </a:t>
            </a:r>
            <a:r>
              <a:rPr lang="pt-BR" sz="2000" dirty="0" err="1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Perozin</a:t>
            </a:r>
            <a:endParaRPr sz="2000" b="0" i="0" u="none" strike="noStrike" cap="none" dirty="0" err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>
              <a:buSzPts val="2000"/>
            </a:pPr>
            <a:r>
              <a:rPr lang="pt-BR" sz="2000" b="0" i="0" u="none" strike="noStrike" cap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Professores</a:t>
            </a:r>
            <a:r>
              <a:rPr lang="pt-BR" sz="2000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: Daniela Amorin, Simone Regina, Rafael Rosa e Thiago </a:t>
            </a:r>
            <a:r>
              <a:rPr lang="pt-BR" sz="2000" dirty="0" err="1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Leucz</a:t>
            </a:r>
            <a:r>
              <a:rPr lang="pt-BR" sz="2000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t-BR" sz="2000" dirty="0" err="1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Atrizi</a:t>
            </a:r>
            <a:endParaRPr sz="2000" b="0" i="0" u="none" strike="noStrike" cap="none" dirty="0" err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290200" y="107425"/>
            <a:ext cx="8757600" cy="4515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lang="pt-BR" sz="1733" b="1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Time</a:t>
            </a:r>
            <a:endParaRPr sz="1733" b="1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8" name="Google Shape;5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925" y="4681625"/>
            <a:ext cx="1172875" cy="4168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 txBox="1"/>
          <p:nvPr/>
        </p:nvSpPr>
        <p:spPr>
          <a:xfrm>
            <a:off x="288758" y="963850"/>
            <a:ext cx="8434117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pt-BR" sz="1400" b="0" i="0" u="none" strike="noStrike" cap="none" dirty="0">
                <a:latin typeface="Arial"/>
                <a:ea typeface="Arial"/>
                <a:cs typeface="Arial"/>
              </a:rPr>
            </a:br>
            <a:endParaRPr sz="1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" name="Imagem 1" descr="Homem de camisa branca&#10;&#10;O conteúdo gerado por IA pode estar incorreto.">
            <a:extLst>
              <a:ext uri="{FF2B5EF4-FFF2-40B4-BE49-F238E27FC236}">
                <a16:creationId xmlns:a16="http://schemas.microsoft.com/office/drawing/2014/main" id="{1DAE544D-6E8C-CB87-01AA-FE3DA884B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217" y="1168774"/>
            <a:ext cx="1118348" cy="1118348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EB3A6B7-D060-B7BE-07EE-2C754637214F}"/>
              </a:ext>
            </a:extLst>
          </p:cNvPr>
          <p:cNvSpPr txBox="1"/>
          <p:nvPr/>
        </p:nvSpPr>
        <p:spPr>
          <a:xfrm>
            <a:off x="627961" y="2415427"/>
            <a:ext cx="1912320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100" dirty="0"/>
              <a:t>Vitor Machado Silva</a:t>
            </a:r>
            <a:endParaRPr lang="pt-BR"/>
          </a:p>
          <a:p>
            <a:pPr algn="ctr"/>
            <a:endParaRPr lang="pt-BR" sz="1100" dirty="0"/>
          </a:p>
          <a:p>
            <a:pPr algn="ctr"/>
            <a:r>
              <a:rPr lang="pt-BR" sz="1100" dirty="0"/>
              <a:t>Desenvolvedor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CBC9A43-FFAA-39A1-B9D9-371D99FA40D5}"/>
              </a:ext>
            </a:extLst>
          </p:cNvPr>
          <p:cNvSpPr txBox="1"/>
          <p:nvPr/>
        </p:nvSpPr>
        <p:spPr>
          <a:xfrm>
            <a:off x="2532961" y="2415427"/>
            <a:ext cx="1912320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100" dirty="0"/>
              <a:t>Leonardo de Campos</a:t>
            </a:r>
            <a:endParaRPr lang="pt-BR" dirty="0"/>
          </a:p>
          <a:p>
            <a:pPr algn="ctr"/>
            <a:endParaRPr lang="pt-BR" sz="1100" dirty="0"/>
          </a:p>
          <a:p>
            <a:pPr algn="ctr"/>
            <a:r>
              <a:rPr lang="pt-BR" sz="1100" dirty="0" err="1"/>
              <a:t>Product</a:t>
            </a:r>
            <a:r>
              <a:rPr lang="pt-BR" sz="1100" dirty="0"/>
              <a:t> </a:t>
            </a:r>
            <a:r>
              <a:rPr lang="pt-BR" sz="1100" dirty="0" err="1"/>
              <a:t>Owner</a:t>
            </a:r>
            <a:r>
              <a:rPr lang="pt-BR" sz="1100" dirty="0"/>
              <a:t> (PO)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E2CB8F6-43C5-BA05-2B57-EE4A54F65A35}"/>
              </a:ext>
            </a:extLst>
          </p:cNvPr>
          <p:cNvSpPr txBox="1"/>
          <p:nvPr/>
        </p:nvSpPr>
        <p:spPr>
          <a:xfrm>
            <a:off x="4445287" y="2415426"/>
            <a:ext cx="1912320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100" dirty="0"/>
              <a:t>Diogo Vieira</a:t>
            </a:r>
            <a:endParaRPr lang="pt-BR" dirty="0"/>
          </a:p>
          <a:p>
            <a:pPr algn="ctr"/>
            <a:endParaRPr lang="pt-BR" sz="1100" dirty="0"/>
          </a:p>
          <a:p>
            <a:pPr algn="ctr"/>
            <a:r>
              <a:rPr lang="pt-BR" sz="1100" dirty="0"/>
              <a:t>Desenvolvedor UI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275FCB8-587F-605C-D85B-72E379FA72C0}"/>
              </a:ext>
            </a:extLst>
          </p:cNvPr>
          <p:cNvSpPr txBox="1"/>
          <p:nvPr/>
        </p:nvSpPr>
        <p:spPr>
          <a:xfrm>
            <a:off x="6357614" y="2415427"/>
            <a:ext cx="1912320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100" dirty="0"/>
              <a:t>Eriksson </a:t>
            </a:r>
            <a:r>
              <a:rPr lang="pt-BR" sz="1100" dirty="0" err="1"/>
              <a:t>Perozin</a:t>
            </a:r>
            <a:endParaRPr lang="pt-BR" dirty="0" err="1"/>
          </a:p>
          <a:p>
            <a:pPr algn="ctr"/>
            <a:endParaRPr lang="pt-BR" sz="1100" dirty="0"/>
          </a:p>
          <a:p>
            <a:pPr algn="ctr"/>
            <a:r>
              <a:rPr lang="pt-BR" sz="1100" dirty="0" err="1"/>
              <a:t>Quality</a:t>
            </a:r>
            <a:r>
              <a:rPr lang="pt-BR" sz="1100" dirty="0"/>
              <a:t> </a:t>
            </a:r>
            <a:r>
              <a:rPr lang="pt-BR" sz="1100" dirty="0" err="1"/>
              <a:t>Assurance</a:t>
            </a:r>
            <a:r>
              <a:rPr lang="pt-BR" sz="1100" dirty="0"/>
              <a:t> (QA)</a:t>
            </a:r>
          </a:p>
        </p:txBody>
      </p:sp>
      <p:pic>
        <p:nvPicPr>
          <p:cNvPr id="8" name="Imagem 7" descr="Homem falando no celular&#10;&#10;O conteúdo gerado por IA pode estar incorreto.">
            <a:extLst>
              <a:ext uri="{FF2B5EF4-FFF2-40B4-BE49-F238E27FC236}">
                <a16:creationId xmlns:a16="http://schemas.microsoft.com/office/drawing/2014/main" id="{FB88E739-F320-4DF7-8064-EEBADB350C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527" y="1135674"/>
            <a:ext cx="1166813" cy="1179635"/>
          </a:xfrm>
          <a:prstGeom prst="rect">
            <a:avLst/>
          </a:prstGeom>
        </p:spPr>
      </p:pic>
      <p:pic>
        <p:nvPicPr>
          <p:cNvPr id="9" name="Imagem 8" descr="Homem com óculos de grau&#10;&#10;O conteúdo gerado por IA pode estar incorreto.">
            <a:extLst>
              <a:ext uri="{FF2B5EF4-FFF2-40B4-BE49-F238E27FC236}">
                <a16:creationId xmlns:a16="http://schemas.microsoft.com/office/drawing/2014/main" id="{E8A3F484-4499-4D6B-6711-FF785DE8B3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6798" y="1172308"/>
            <a:ext cx="1058961" cy="111369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714ECB3-EC82-A9CF-6863-5E7DC670967D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2944030" y="1179536"/>
            <a:ext cx="1116000" cy="11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290200" y="107425"/>
            <a:ext cx="8757600" cy="4515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lang="pt-BR" sz="1733" b="1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Disciplina de Empreendedorismo</a:t>
            </a:r>
            <a:endParaRPr sz="1733" b="1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5" name="Google Shape;6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925" y="4681625"/>
            <a:ext cx="1172875" cy="4168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 txBox="1"/>
          <p:nvPr/>
        </p:nvSpPr>
        <p:spPr>
          <a:xfrm>
            <a:off x="288758" y="963850"/>
            <a:ext cx="84342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/>
            <a:r>
              <a:rPr lang="pt-BR" sz="1800" b="1" dirty="0">
                <a:solidFill>
                  <a:schemeClr val="dk1"/>
                </a:solidFill>
              </a:rPr>
              <a:t>Problema / Necessidade</a:t>
            </a:r>
          </a:p>
          <a:p>
            <a:pPr marL="139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lang="pt-BR" sz="1400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6F90B87-3696-BEAA-C6C0-A0472204EB82}"/>
              </a:ext>
            </a:extLst>
          </p:cNvPr>
          <p:cNvSpPr txBox="1"/>
          <p:nvPr/>
        </p:nvSpPr>
        <p:spPr>
          <a:xfrm>
            <a:off x="1094905" y="1972149"/>
            <a:ext cx="6701348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pt-BR" dirty="0"/>
              <a:t>Falta de organização no uso dos laboratórios e salas de aula.</a:t>
            </a:r>
          </a:p>
          <a:p>
            <a:pPr marL="285750" indent="-285750">
              <a:buChar char="•"/>
            </a:pPr>
            <a:r>
              <a:rPr lang="pt-BR" dirty="0"/>
              <a:t>Conflitos de horário entre docentes.</a:t>
            </a:r>
          </a:p>
          <a:p>
            <a:pPr marL="285750" indent="-285750">
              <a:buChar char="•"/>
            </a:pPr>
            <a:r>
              <a:rPr lang="pt-BR" dirty="0"/>
              <a:t>Dificuldade no planejamento pedagógico.</a:t>
            </a:r>
          </a:p>
          <a:p>
            <a:pPr marL="285750" indent="-285750">
              <a:buChar char="•"/>
            </a:pPr>
            <a:r>
              <a:rPr lang="pt-BR" dirty="0"/>
              <a:t>Uso reduzido dos espaços e perda de tempo.</a:t>
            </a:r>
          </a:p>
          <a:p>
            <a:pPr marL="285750" indent="-285750">
              <a:buChar char="•"/>
            </a:pPr>
            <a:r>
              <a:rPr lang="pt-BR" dirty="0"/>
              <a:t>Ausência de um sistema centralizado e transparente para reservas.</a:t>
            </a:r>
          </a:p>
          <a:p>
            <a:br>
              <a:rPr lang="pt-BR" b="1" dirty="0"/>
            </a:br>
            <a:r>
              <a:rPr lang="pt-BR" b="1" dirty="0"/>
              <a:t> “A desorganização atual prejudica docentes, coordenação e a qualidade do ensino.”</a:t>
            </a:r>
            <a:endParaRPr lang="pt-BR" dirty="0"/>
          </a:p>
          <a:p>
            <a:pPr algn="l"/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F3C352CD-BA2C-4160-2EAE-786107720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>
            <a:extLst>
              <a:ext uri="{FF2B5EF4-FFF2-40B4-BE49-F238E27FC236}">
                <a16:creationId xmlns:a16="http://schemas.microsoft.com/office/drawing/2014/main" id="{E57E1D34-BA00-0184-C39B-E7AF734A4307}"/>
              </a:ext>
            </a:extLst>
          </p:cNvPr>
          <p:cNvSpPr txBox="1"/>
          <p:nvPr/>
        </p:nvSpPr>
        <p:spPr>
          <a:xfrm>
            <a:off x="290200" y="107425"/>
            <a:ext cx="8757600" cy="4515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lang="pt-BR" sz="1733" b="1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Disciplina de Empreendedorismo</a:t>
            </a:r>
            <a:endParaRPr sz="1733" b="1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5" name="Google Shape;65;p3">
            <a:extLst>
              <a:ext uri="{FF2B5EF4-FFF2-40B4-BE49-F238E27FC236}">
                <a16:creationId xmlns:a16="http://schemas.microsoft.com/office/drawing/2014/main" id="{E9630FE8-A548-7F71-C25C-D45705B6DF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925" y="4681625"/>
            <a:ext cx="1172875" cy="4168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>
            <a:extLst>
              <a:ext uri="{FF2B5EF4-FFF2-40B4-BE49-F238E27FC236}">
                <a16:creationId xmlns:a16="http://schemas.microsoft.com/office/drawing/2014/main" id="{09399EA1-0DC7-F703-161C-7CCC2B2C1CBE}"/>
              </a:ext>
            </a:extLst>
          </p:cNvPr>
          <p:cNvSpPr txBox="1"/>
          <p:nvPr/>
        </p:nvSpPr>
        <p:spPr>
          <a:xfrm>
            <a:off x="288758" y="963850"/>
            <a:ext cx="84342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/>
            <a:r>
              <a:rPr lang="pt-BR" sz="1800" b="1" dirty="0">
                <a:solidFill>
                  <a:schemeClr val="dk1"/>
                </a:solidFill>
              </a:rPr>
              <a:t>Oportunidade de Mercado</a:t>
            </a:r>
          </a:p>
          <a:p>
            <a:pPr marL="139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lang="pt-BR" sz="1400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841EDFE-422A-72C3-BFBF-8A77DA7490F9}"/>
              </a:ext>
            </a:extLst>
          </p:cNvPr>
          <p:cNvSpPr txBox="1"/>
          <p:nvPr/>
        </p:nvSpPr>
        <p:spPr>
          <a:xfrm>
            <a:off x="1094905" y="1972149"/>
            <a:ext cx="6701348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pt-BR" dirty="0"/>
              <a:t>Como podemos facilitar a organização das reservas e reduzir conflitos?</a:t>
            </a:r>
          </a:p>
          <a:p>
            <a:pPr marL="285750" indent="-285750">
              <a:buChar char="•"/>
            </a:pPr>
            <a:r>
              <a:rPr lang="pt-BR" dirty="0"/>
              <a:t>Existe demanda por um sistema simples, gratuito e transparente.</a:t>
            </a:r>
          </a:p>
          <a:p>
            <a:pPr marL="285750" indent="-285750">
              <a:buChar char="•"/>
            </a:pPr>
            <a:r>
              <a:rPr lang="pt-BR" dirty="0"/>
              <a:t>Instituições buscam soluções digitais que economizem tempo e evitem disputas.</a:t>
            </a:r>
          </a:p>
          <a:p>
            <a:pPr marL="285750" indent="-285750">
              <a:buChar char="•"/>
            </a:pPr>
            <a:r>
              <a:rPr lang="pt-BR" dirty="0"/>
              <a:t>Nicho pouco explorado: sistemas de reserva específicos para laboratórios.</a:t>
            </a:r>
          </a:p>
          <a:p>
            <a:pPr marL="285750" indent="-285750">
              <a:buChar char="•"/>
            </a:pPr>
            <a:r>
              <a:rPr lang="pt-BR" dirty="0"/>
              <a:t>TAM/SAM/SOM mostram amplo potencial de adoção (2.580 instituições no Brasil).</a:t>
            </a:r>
          </a:p>
          <a:p>
            <a:br>
              <a:rPr lang="pt-BR" b="1" dirty="0"/>
            </a:br>
            <a:r>
              <a:rPr lang="pt-BR" b="1" dirty="0"/>
              <a:t> “O mercado educacional carece de uma solução especializada para reservas de laboratórios.”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4174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55C58118-E4A9-4670-B24B-72D5D097E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>
            <a:extLst>
              <a:ext uri="{FF2B5EF4-FFF2-40B4-BE49-F238E27FC236}">
                <a16:creationId xmlns:a16="http://schemas.microsoft.com/office/drawing/2014/main" id="{3CB4649D-1022-D5A8-C223-8545EED0CB70}"/>
              </a:ext>
            </a:extLst>
          </p:cNvPr>
          <p:cNvSpPr txBox="1"/>
          <p:nvPr/>
        </p:nvSpPr>
        <p:spPr>
          <a:xfrm>
            <a:off x="290200" y="107425"/>
            <a:ext cx="8757600" cy="4515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lang="pt-BR" sz="1733" b="1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Disciplina de Empreendedorismo</a:t>
            </a:r>
            <a:endParaRPr sz="1733" b="1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5" name="Google Shape;65;p3">
            <a:extLst>
              <a:ext uri="{FF2B5EF4-FFF2-40B4-BE49-F238E27FC236}">
                <a16:creationId xmlns:a16="http://schemas.microsoft.com/office/drawing/2014/main" id="{C4DB26A3-965C-3C87-FCD9-19B5B813545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925" y="4681625"/>
            <a:ext cx="1172875" cy="4168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>
            <a:extLst>
              <a:ext uri="{FF2B5EF4-FFF2-40B4-BE49-F238E27FC236}">
                <a16:creationId xmlns:a16="http://schemas.microsoft.com/office/drawing/2014/main" id="{9E8F92DB-3ABA-3EA8-8308-D0D55984F21C}"/>
              </a:ext>
            </a:extLst>
          </p:cNvPr>
          <p:cNvSpPr txBox="1"/>
          <p:nvPr/>
        </p:nvSpPr>
        <p:spPr>
          <a:xfrm>
            <a:off x="288758" y="963850"/>
            <a:ext cx="84342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/>
            <a:r>
              <a:rPr lang="pt-BR" sz="1800" b="1" dirty="0">
                <a:solidFill>
                  <a:schemeClr val="dk1"/>
                </a:solidFill>
              </a:rPr>
              <a:t>Visão de Produto &amp; Proposta de Valor</a:t>
            </a:r>
          </a:p>
          <a:p>
            <a:pPr marL="139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lang="pt-BR" sz="1400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1010E41-2A18-A67D-5E19-BD552E41D6D2}"/>
              </a:ext>
            </a:extLst>
          </p:cNvPr>
          <p:cNvSpPr txBox="1"/>
          <p:nvPr/>
        </p:nvSpPr>
        <p:spPr>
          <a:xfrm>
            <a:off x="1094905" y="1635111"/>
            <a:ext cx="6701348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pt-BR" dirty="0"/>
              <a:t>Plataforma web para reservar e gerenciar laboratórios de forma simples e rápida.</a:t>
            </a:r>
          </a:p>
          <a:p>
            <a:pPr marL="285750" indent="-285750">
              <a:buChar char="•"/>
            </a:pPr>
            <a:r>
              <a:rPr lang="pt-BR" dirty="0"/>
              <a:t>Gestão de horário compartilhada em tempo real.</a:t>
            </a:r>
          </a:p>
          <a:p>
            <a:pPr marL="285750" indent="-285750">
              <a:buChar char="•"/>
            </a:pPr>
            <a:r>
              <a:rPr lang="pt-BR" dirty="0"/>
              <a:t>Foco em </a:t>
            </a:r>
            <a:r>
              <a:rPr lang="pt-BR" b="1" dirty="0"/>
              <a:t>simplicidade</a:t>
            </a:r>
            <a:r>
              <a:rPr lang="pt-BR" dirty="0"/>
              <a:t>, </a:t>
            </a:r>
            <a:r>
              <a:rPr lang="pt-BR" b="1" dirty="0"/>
              <a:t>acessibilidade</a:t>
            </a:r>
            <a:r>
              <a:rPr lang="pt-BR" dirty="0"/>
              <a:t>, </a:t>
            </a:r>
            <a:r>
              <a:rPr lang="pt-BR" b="1" dirty="0"/>
              <a:t>zero custo para a instituição</a:t>
            </a:r>
            <a:r>
              <a:rPr lang="pt-BR" dirty="0"/>
              <a:t>.</a:t>
            </a:r>
          </a:p>
          <a:p>
            <a:r>
              <a:rPr lang="pt-BR" b="1" dirty="0"/>
              <a:t>Diferenciais (</a:t>
            </a:r>
            <a:r>
              <a:rPr lang="pt-BR" b="1" dirty="0" err="1"/>
              <a:t>Ocean</a:t>
            </a:r>
            <a:r>
              <a:rPr lang="pt-BR" b="1" dirty="0"/>
              <a:t> Blue </a:t>
            </a:r>
            <a:r>
              <a:rPr lang="pt-BR" b="1" dirty="0" err="1"/>
              <a:t>Strategy</a:t>
            </a:r>
            <a:r>
              <a:rPr lang="pt-BR" b="1" dirty="0"/>
              <a:t>):</a:t>
            </a:r>
            <a:endParaRPr lang="pt-BR" dirty="0"/>
          </a:p>
          <a:p>
            <a:pPr marL="285750" indent="-285750">
              <a:buChar char="•"/>
            </a:pPr>
            <a:r>
              <a:rPr lang="pt-BR" dirty="0"/>
              <a:t>Substitui planilhas manuais e sistemas burocráticos.</a:t>
            </a:r>
          </a:p>
          <a:p>
            <a:pPr marL="285750" indent="-285750">
              <a:buChar char="•"/>
            </a:pPr>
            <a:r>
              <a:rPr lang="pt-BR" dirty="0"/>
              <a:t>Gratuito no plano básico.</a:t>
            </a:r>
          </a:p>
          <a:p>
            <a:pPr marL="285750" indent="-285750">
              <a:buChar char="•"/>
            </a:pPr>
            <a:r>
              <a:rPr lang="pt-BR" dirty="0"/>
              <a:t>Interface intuitiva e moderna.</a:t>
            </a:r>
          </a:p>
          <a:p>
            <a:endParaRPr lang="pt-BR" dirty="0"/>
          </a:p>
          <a:p>
            <a:r>
              <a:rPr lang="pt-BR" b="1" dirty="0"/>
              <a:t>Proposta de Valor :</a:t>
            </a:r>
            <a:br>
              <a:rPr lang="pt-BR" b="1" dirty="0"/>
            </a:br>
            <a:r>
              <a:rPr lang="pt-BR" b="1" dirty="0"/>
              <a:t> “Um sistema que resolve a desorganização das reservas de laboratórios, oferecendo praticidade, transparência e economia de tempo para docentes e coordenadores.”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9158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A18C465A-5E8D-C806-D699-26A6C779E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>
            <a:extLst>
              <a:ext uri="{FF2B5EF4-FFF2-40B4-BE49-F238E27FC236}">
                <a16:creationId xmlns:a16="http://schemas.microsoft.com/office/drawing/2014/main" id="{00C45343-955F-25C4-3688-179C3BA9D535}"/>
              </a:ext>
            </a:extLst>
          </p:cNvPr>
          <p:cNvSpPr txBox="1"/>
          <p:nvPr/>
        </p:nvSpPr>
        <p:spPr>
          <a:xfrm>
            <a:off x="290200" y="107425"/>
            <a:ext cx="8757600" cy="4515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lang="pt-BR" sz="1733" b="1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Disciplina de Empreendedorismo</a:t>
            </a:r>
            <a:endParaRPr sz="1733" b="1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5" name="Google Shape;65;p3">
            <a:extLst>
              <a:ext uri="{FF2B5EF4-FFF2-40B4-BE49-F238E27FC236}">
                <a16:creationId xmlns:a16="http://schemas.microsoft.com/office/drawing/2014/main" id="{D3972D47-90BB-658B-1547-A6B874630E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925" y="4681625"/>
            <a:ext cx="1172875" cy="4168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>
            <a:extLst>
              <a:ext uri="{FF2B5EF4-FFF2-40B4-BE49-F238E27FC236}">
                <a16:creationId xmlns:a16="http://schemas.microsoft.com/office/drawing/2014/main" id="{20AB3C39-368E-289E-659B-D7A13860D80A}"/>
              </a:ext>
            </a:extLst>
          </p:cNvPr>
          <p:cNvSpPr txBox="1"/>
          <p:nvPr/>
        </p:nvSpPr>
        <p:spPr>
          <a:xfrm>
            <a:off x="288758" y="963850"/>
            <a:ext cx="84342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/>
            <a:r>
              <a:rPr lang="pt-BR" sz="1800" b="1" dirty="0">
                <a:solidFill>
                  <a:schemeClr val="dk1"/>
                </a:solidFill>
              </a:rPr>
              <a:t>Investimento (CAPEX, OPEX e Viabilidade)</a:t>
            </a:r>
            <a:endParaRPr lang="pt-BR" b="1" dirty="0">
              <a:solidFill>
                <a:schemeClr val="dk1"/>
              </a:solidFill>
            </a:endParaRPr>
          </a:p>
          <a:p>
            <a:pPr marL="139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lang="pt-BR" sz="1400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C71E6B9-1CA5-950F-DD37-6A9D57E7B0C6}"/>
              </a:ext>
            </a:extLst>
          </p:cNvPr>
          <p:cNvSpPr txBox="1"/>
          <p:nvPr/>
        </p:nvSpPr>
        <p:spPr>
          <a:xfrm>
            <a:off x="288943" y="1635111"/>
            <a:ext cx="333096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200" b="1" dirty="0"/>
              <a:t>CAPEX – Investimento Inicial</a:t>
            </a:r>
            <a:endParaRPr lang="pt-BR" sz="1200" dirty="0"/>
          </a:p>
          <a:p>
            <a:pPr marL="285750" indent="-285750">
              <a:buChar char="•"/>
            </a:pPr>
            <a:r>
              <a:rPr lang="pt-BR" sz="1200" dirty="0"/>
              <a:t>Registro de domínio: </a:t>
            </a:r>
            <a:r>
              <a:rPr lang="pt-BR" sz="1200" b="1" dirty="0"/>
              <a:t>R$ 60,00</a:t>
            </a:r>
            <a:endParaRPr lang="pt-BR" sz="1200" dirty="0"/>
          </a:p>
          <a:p>
            <a:pPr marL="285750" indent="-285750">
              <a:buChar char="•"/>
            </a:pPr>
            <a:r>
              <a:rPr lang="pt-BR" sz="1200" dirty="0"/>
              <a:t>Hospedagem / Infraestrutura: </a:t>
            </a:r>
            <a:r>
              <a:rPr lang="pt-BR" sz="1200" b="1" dirty="0"/>
              <a:t>R$ 300,00</a:t>
            </a:r>
            <a:endParaRPr lang="pt-BR" sz="1200" dirty="0"/>
          </a:p>
          <a:p>
            <a:pPr marL="285750" indent="-285750">
              <a:buChar char="•"/>
            </a:pPr>
            <a:r>
              <a:rPr lang="pt-BR" sz="1200" b="1" dirty="0"/>
              <a:t>Total CAPEX: R$ 360,00</a:t>
            </a:r>
            <a:endParaRPr lang="pt-BR" sz="12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D5FDBA6-EC05-2077-D592-8C9422D17AA3}"/>
              </a:ext>
            </a:extLst>
          </p:cNvPr>
          <p:cNvSpPr txBox="1"/>
          <p:nvPr/>
        </p:nvSpPr>
        <p:spPr>
          <a:xfrm>
            <a:off x="288943" y="2726822"/>
            <a:ext cx="287669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200" b="1" dirty="0"/>
              <a:t>OPEX – Custos Operacionais Mensais</a:t>
            </a:r>
            <a:endParaRPr lang="pt-BR" sz="1200" dirty="0"/>
          </a:p>
          <a:p>
            <a:pPr marL="285750" indent="-285750">
              <a:buChar char="•"/>
            </a:pPr>
            <a:r>
              <a:rPr lang="pt-BR" sz="1200" dirty="0"/>
              <a:t>Internet/Energia equipe (4 pessoas): </a:t>
            </a:r>
            <a:r>
              <a:rPr lang="pt-BR" sz="1200" b="1" dirty="0"/>
              <a:t>R$ 200,00</a:t>
            </a:r>
            <a:endParaRPr lang="pt-BR" sz="1200" dirty="0"/>
          </a:p>
          <a:p>
            <a:pPr marL="285750" indent="-285750">
              <a:buChar char="•"/>
            </a:pPr>
            <a:r>
              <a:rPr lang="pt-BR" sz="1200" dirty="0"/>
              <a:t>Hospedagem + Banco + Monitoramento: </a:t>
            </a:r>
            <a:r>
              <a:rPr lang="pt-BR" sz="1200" b="1" dirty="0"/>
              <a:t>R$ 150,00</a:t>
            </a:r>
            <a:endParaRPr lang="pt-BR" sz="1200" dirty="0"/>
          </a:p>
          <a:p>
            <a:pPr marL="285750" indent="-285750">
              <a:buChar char="•"/>
            </a:pPr>
            <a:r>
              <a:rPr lang="pt-BR" sz="1200" dirty="0"/>
              <a:t>Equipe de desenvolvimento: </a:t>
            </a:r>
            <a:r>
              <a:rPr lang="pt-BR" sz="1200" b="1" dirty="0"/>
              <a:t>R$ 4.000,00</a:t>
            </a:r>
            <a:endParaRPr lang="pt-BR" sz="1200" dirty="0"/>
          </a:p>
          <a:p>
            <a:pPr marL="285750" indent="-285750">
              <a:buChar char="•"/>
            </a:pPr>
            <a:r>
              <a:rPr lang="pt-BR" sz="1200" b="1" dirty="0"/>
              <a:t>Total OPEX mensal: R$ 4.350,00</a:t>
            </a:r>
            <a:endParaRPr lang="pt-BR" sz="1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D05639A-859B-984E-062A-BDE74E28361C}"/>
              </a:ext>
            </a:extLst>
          </p:cNvPr>
          <p:cNvSpPr txBox="1"/>
          <p:nvPr/>
        </p:nvSpPr>
        <p:spPr>
          <a:xfrm>
            <a:off x="4128251" y="1635110"/>
            <a:ext cx="4217521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200" b="1" dirty="0"/>
              <a:t>Projeção Financeira</a:t>
            </a:r>
            <a:endParaRPr lang="pt-BR"/>
          </a:p>
          <a:p>
            <a:pPr marL="285750" indent="-285750">
              <a:buChar char="•"/>
            </a:pPr>
            <a:r>
              <a:rPr lang="pt-BR" sz="1200" dirty="0"/>
              <a:t>Receita com 30 clientes: </a:t>
            </a:r>
            <a:r>
              <a:rPr lang="pt-BR" sz="1200" b="1" dirty="0"/>
              <a:t>R$ 6.000,00/mês</a:t>
            </a:r>
            <a:endParaRPr lang="pt-BR" dirty="0"/>
          </a:p>
          <a:p>
            <a:pPr marL="285750" indent="-285750">
              <a:buChar char="•"/>
            </a:pPr>
            <a:r>
              <a:rPr lang="pt-BR" sz="1200" dirty="0"/>
              <a:t>Lucro mensal: </a:t>
            </a:r>
            <a:r>
              <a:rPr lang="pt-BR" sz="1200" b="1" dirty="0"/>
              <a:t>R$ 1.650,00</a:t>
            </a:r>
            <a:endParaRPr lang="pt-BR" dirty="0"/>
          </a:p>
          <a:p>
            <a:pPr marL="285750" indent="-285750">
              <a:buChar char="•"/>
            </a:pPr>
            <a:r>
              <a:rPr lang="pt-BR" sz="1200" b="1" dirty="0" err="1"/>
              <a:t>Breakeven</a:t>
            </a:r>
            <a:r>
              <a:rPr lang="pt-BR" sz="1200" b="1" dirty="0"/>
              <a:t> atingido já no 1º mês</a:t>
            </a:r>
            <a:endParaRPr lang="pt-BR" dirty="0"/>
          </a:p>
          <a:p>
            <a:br>
              <a:rPr lang="pt-BR" sz="1200" b="1" dirty="0"/>
            </a:br>
            <a:r>
              <a:rPr lang="pt-BR" sz="1200" b="1" dirty="0"/>
              <a:t> “O </a:t>
            </a:r>
            <a:r>
              <a:rPr lang="pt-BR" sz="1200" b="1" dirty="0" err="1"/>
              <a:t>GetLab</a:t>
            </a:r>
            <a:r>
              <a:rPr lang="pt-BR" sz="1200" b="1" dirty="0"/>
              <a:t> exige baixo investimento inicial e apresenta retorno financeiro imediato no cenário projetado.”</a:t>
            </a:r>
            <a:endParaRPr lang="pt-BR" dirty="0"/>
          </a:p>
          <a:p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4247014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/>
        </p:nvSpPr>
        <p:spPr>
          <a:xfrm>
            <a:off x="290200" y="107425"/>
            <a:ext cx="8757600" cy="4515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lang="pt-BR" sz="1733" b="1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Sistema</a:t>
            </a:r>
            <a:endParaRPr sz="1733" b="1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72" name="Google Shape;7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925" y="4681625"/>
            <a:ext cx="1172875" cy="4168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 txBox="1"/>
          <p:nvPr/>
        </p:nvSpPr>
        <p:spPr>
          <a:xfrm>
            <a:off x="288758" y="963850"/>
            <a:ext cx="843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Apresentação do Sistema.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</Words>
  <Application>Microsoft Office PowerPoint</Application>
  <PresentationFormat>Apresentação na tela (16:9)</PresentationFormat>
  <Paragraphs>70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Georgia</vt:lpstr>
      <vt:lpstr>Arial</vt:lpstr>
      <vt:lpstr>Tahoma</vt:lpstr>
      <vt:lpstr>Simple Light</vt:lpstr>
      <vt:lpstr>  FMP PI III    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Primeira Cia</dc:creator>
  <cp:lastModifiedBy>Leonardo de Campos</cp:lastModifiedBy>
  <cp:revision>105</cp:revision>
  <dcterms:modified xsi:type="dcterms:W3CDTF">2025-12-09T21:37:09Z</dcterms:modified>
</cp:coreProperties>
</file>